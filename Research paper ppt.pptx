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Telegraf Bold" charset="1" panose="00000800000000000000"/>
      <p:regular r:id="rId18"/>
    </p:embeddedFont>
    <p:embeddedFont>
      <p:font typeface="Archivo Black" charset="1" panose="020B0A03020202020B04"/>
      <p:regular r:id="rId19"/>
    </p:embeddedFont>
    <p:embeddedFont>
      <p:font typeface="Telegraf" charset="1" panose="00000500000000000000"/>
      <p:regular r:id="rId20"/>
    </p:embeddedFont>
    <p:embeddedFont>
      <p:font typeface="Times New Roman Bold" charset="1" panose="02020803070505020304"/>
      <p:regular r:id="rId21"/>
    </p:embeddedFont>
    <p:embeddedFont>
      <p:font typeface="Times New Roman MT Bold" charset="1" panose="02030802070405020303"/>
      <p:regular r:id="rId22"/>
    </p:embeddedFont>
    <p:embeddedFont>
      <p:font typeface="Times New Roman" charset="1" panose="02020603050405020304"/>
      <p:regular r:id="rId23"/>
    </p:embeddedFont>
    <p:embeddedFont>
      <p:font typeface="Lato Bold" charset="1" panose="020F0502020204030203"/>
      <p:regular r:id="rId24"/>
    </p:embeddedFont>
    <p:embeddedFont>
      <p:font typeface="Lato" charset="1" panose="020F05020202040302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0794" y="5718374"/>
            <a:ext cx="9637365" cy="212578"/>
            <a:chOff x="0" y="0"/>
            <a:chExt cx="2538236" cy="5598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38236" cy="55988"/>
            </a:xfrm>
            <a:custGeom>
              <a:avLst/>
              <a:gdLst/>
              <a:ahLst/>
              <a:cxnLst/>
              <a:rect r="r" b="b" t="t" l="l"/>
              <a:pathLst>
                <a:path h="55988" w="2538236">
                  <a:moveTo>
                    <a:pt x="0" y="0"/>
                  </a:moveTo>
                  <a:lnTo>
                    <a:pt x="2538236" y="0"/>
                  </a:lnTo>
                  <a:lnTo>
                    <a:pt x="2538236" y="55988"/>
                  </a:lnTo>
                  <a:lnTo>
                    <a:pt x="0" y="55988"/>
                  </a:lnTo>
                  <a:close/>
                </a:path>
              </a:pathLst>
            </a:custGeom>
            <a:gradFill rotWithShape="true">
              <a:gsLst>
                <a:gs pos="0">
                  <a:srgbClr val="E4B795">
                    <a:alpha val="100000"/>
                  </a:srgbClr>
                </a:gs>
                <a:gs pos="50000">
                  <a:srgbClr val="699ACD">
                    <a:alpha val="100000"/>
                  </a:srgbClr>
                </a:gs>
                <a:gs pos="100000">
                  <a:srgbClr val="2F679F">
                    <a:alpha val="100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2538236" cy="1131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63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3376525"/>
            <a:ext cx="13485967" cy="2027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21"/>
              </a:lnSpc>
              <a:spcBef>
                <a:spcPct val="0"/>
              </a:spcBef>
            </a:pPr>
            <a:r>
              <a:rPr lang="en-US" b="true" sz="3801" spc="190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CORRELATION MAPPING OF SANITATION ACCESS AND PUBLIC HEALTH OUTCOMES IN TAMIL NADU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086961"/>
            <a:ext cx="10797967" cy="109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59"/>
              </a:lnSpc>
              <a:spcBef>
                <a:spcPct val="0"/>
              </a:spcBef>
            </a:pPr>
            <a:r>
              <a:rPr lang="en-US" sz="6399" spc="697">
                <a:solidFill>
                  <a:srgbClr val="343434"/>
                </a:solidFill>
                <a:latin typeface="Archivo Black"/>
                <a:ea typeface="Archivo Black"/>
                <a:cs typeface="Archivo Black"/>
                <a:sym typeface="Archivo Black"/>
              </a:rPr>
              <a:t>IEEE MPCON 2026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159552"/>
            <a:ext cx="2554023" cy="460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 spc="124">
                <a:solidFill>
                  <a:srgbClr val="343434"/>
                </a:solidFill>
                <a:latin typeface="Telegraf"/>
                <a:ea typeface="Telegraf"/>
                <a:cs typeface="Telegraf"/>
                <a:sym typeface="Telegraf"/>
              </a:rPr>
              <a:t>Authors 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36785" y="6159552"/>
            <a:ext cx="4615710" cy="308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Dr. Deepalakshmi Rajendran</a:t>
            </a:r>
          </a:p>
          <a:p>
            <a:pPr algn="l">
              <a:lnSpc>
                <a:spcPts val="3499"/>
              </a:lnSpc>
            </a:pP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Mrs. </a:t>
            </a: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M. Surya</a:t>
            </a:r>
          </a:p>
          <a:p>
            <a:pPr algn="l">
              <a:lnSpc>
                <a:spcPts val="3499"/>
              </a:lnSpc>
            </a:pP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Annie Darling Kanmani A</a:t>
            </a:r>
          </a:p>
          <a:p>
            <a:pPr algn="l">
              <a:lnSpc>
                <a:spcPts val="3499"/>
              </a:lnSpc>
            </a:pP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Dharun R</a:t>
            </a:r>
          </a:p>
          <a:p>
            <a:pPr algn="l">
              <a:lnSpc>
                <a:spcPts val="3499"/>
              </a:lnSpc>
            </a:pPr>
            <a:r>
              <a:rPr lang="en-US" sz="2499" spc="124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Isac Reegan G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 spc="124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Danish Sugarstan 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888745" y="7246812"/>
            <a:ext cx="5158860" cy="34326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40"/>
              </a:lnSpc>
            </a:pPr>
            <a:r>
              <a:rPr lang="en-US" b="true" sz="24475" spc="-1958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576001" y="2117293"/>
            <a:ext cx="14508552" cy="708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Sanitation is a fundamental determinant of public health and social well-being.</a:t>
            </a:r>
          </a:p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 many developing regions, inadequate sanitation leads to:</a:t>
            </a:r>
          </a:p>
          <a:p>
            <a:pPr algn="just">
              <a:lnSpc>
                <a:spcPts val="4671"/>
              </a:lnSpc>
            </a:pPr>
          </a:p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Waterborne diseases</a:t>
            </a:r>
          </a:p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Poor environmental hygiene</a:t>
            </a:r>
          </a:p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Increased healthcare burden</a:t>
            </a:r>
          </a:p>
          <a:p>
            <a:pPr algn="just">
              <a:lnSpc>
                <a:spcPts val="4671"/>
              </a:lnSpc>
            </a:pPr>
          </a:p>
          <a:p>
            <a:pPr algn="just">
              <a:lnSpc>
                <a:spcPts val="4671"/>
              </a:lnSpc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TamilNadu has made significant progress in sanitation infrastructure, but disparities still exist across districts.</a:t>
            </a:r>
          </a:p>
          <a:p>
            <a:pPr algn="just">
              <a:lnSpc>
                <a:spcPts val="4671"/>
              </a:lnSpc>
              <a:spcBef>
                <a:spcPct val="0"/>
              </a:spcBef>
            </a:pPr>
            <a:r>
              <a:rPr lang="en-US" b="true" sz="3337" spc="166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Understanding the relationship between sanitation access and health outcomes canhelp policymakers improve public health strategies.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0517" y="607312"/>
            <a:ext cx="13566253" cy="1396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b="true" sz="9339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INTRODUCTION</a:t>
            </a:r>
          </a:p>
        </p:txBody>
      </p:sp>
      <p:sp>
        <p:nvSpPr>
          <p:cNvPr name="AutoShape 5" id="5"/>
          <p:cNvSpPr/>
          <p:nvPr/>
        </p:nvSpPr>
        <p:spPr>
          <a:xfrm>
            <a:off x="341542" y="370257"/>
            <a:ext cx="1758066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17922209" y="370257"/>
            <a:ext cx="0" cy="93079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341542" y="9678230"/>
            <a:ext cx="1758066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360517" y="370257"/>
            <a:ext cx="0" cy="930797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3226" y="713483"/>
            <a:ext cx="14504000" cy="1348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30"/>
              </a:lnSpc>
            </a:pPr>
            <a:r>
              <a:rPr lang="en-US" sz="9000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3226" y="2186048"/>
            <a:ext cx="15151188" cy="6121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57"/>
              </a:lnSpc>
            </a:pPr>
            <a:r>
              <a:rPr lang="en-US" sz="3112" spc="155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Despite improvements in sanitation facilities, many regions still experience poor health outcomes.</a:t>
            </a:r>
          </a:p>
          <a:p>
            <a:pPr algn="l">
              <a:lnSpc>
                <a:spcPts val="4357"/>
              </a:lnSpc>
            </a:pPr>
          </a:p>
          <a:p>
            <a:pPr algn="l">
              <a:lnSpc>
                <a:spcPts val="4357"/>
              </a:lnSpc>
            </a:pPr>
            <a:r>
              <a:rPr lang="en-US" sz="3112" spc="155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challenges include:</a:t>
            </a:r>
          </a:p>
          <a:p>
            <a:pPr algn="l">
              <a:lnSpc>
                <a:spcPts val="4357"/>
              </a:lnSpc>
            </a:pPr>
          </a:p>
          <a:p>
            <a:pPr algn="l">
              <a:lnSpc>
                <a:spcPts val="4357"/>
              </a:lnSpc>
            </a:pPr>
            <a:r>
              <a:rPr lang="en-US" sz="3112" spc="155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• Unequal access to sanitation facilities</a:t>
            </a:r>
          </a:p>
          <a:p>
            <a:pPr algn="l">
              <a:lnSpc>
                <a:spcPts val="4357"/>
              </a:lnSpc>
            </a:pPr>
            <a:r>
              <a:rPr lang="en-US" sz="3112" spc="155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• Inadequate waste management systems</a:t>
            </a:r>
          </a:p>
          <a:p>
            <a:pPr algn="l">
              <a:lnSpc>
                <a:spcPts val="4357"/>
              </a:lnSpc>
            </a:pPr>
            <a:r>
              <a:rPr lang="en-US" sz="3112" spc="155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• Lack of data-driven policy decisions</a:t>
            </a:r>
          </a:p>
          <a:p>
            <a:pPr algn="l">
              <a:lnSpc>
                <a:spcPts val="4357"/>
              </a:lnSpc>
            </a:pPr>
          </a:p>
          <a:p>
            <a:pPr algn="l">
              <a:lnSpc>
                <a:spcPts val="4357"/>
              </a:lnSpc>
              <a:spcBef>
                <a:spcPct val="0"/>
              </a:spcBef>
            </a:pPr>
            <a:r>
              <a:rPr lang="en-US" b="true" sz="3112" spc="155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Therefore, there is a need to analyze the relationship between sanitation access and  public health indicators using statistical methods.</a:t>
            </a:r>
          </a:p>
        </p:txBody>
      </p:sp>
      <p:sp>
        <p:nvSpPr>
          <p:cNvPr name="AutoShape 4" id="4"/>
          <p:cNvSpPr/>
          <p:nvPr/>
        </p:nvSpPr>
        <p:spPr>
          <a:xfrm>
            <a:off x="281090" y="426966"/>
            <a:ext cx="173971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17678195" y="426966"/>
            <a:ext cx="0" cy="88313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81090" y="9258300"/>
            <a:ext cx="1739710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262040" y="426966"/>
            <a:ext cx="19050" cy="883133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4068" y="1047750"/>
            <a:ext cx="12765895" cy="11832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63"/>
              </a:lnSpc>
            </a:pPr>
            <a:r>
              <a:rPr lang="en-US" sz="7900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RESEARCH OBJECTIVES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84068" y="2648049"/>
            <a:ext cx="12765895" cy="5623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3"/>
              </a:lnSpc>
            </a:pPr>
            <a:r>
              <a:rPr lang="en-US" sz="3209" spc="160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objectives of this study are:</a:t>
            </a:r>
          </a:p>
          <a:p>
            <a:pPr algn="l">
              <a:lnSpc>
                <a:spcPts val="4493"/>
              </a:lnSpc>
            </a:pPr>
          </a:p>
          <a:p>
            <a:pPr algn="l">
              <a:lnSpc>
                <a:spcPts val="4493"/>
              </a:lnSpc>
            </a:pPr>
            <a:r>
              <a:rPr lang="en-US" sz="3209" spc="160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To analyze sanitation accessibility across Tamil Nadu </a:t>
            </a:r>
          </a:p>
          <a:p>
            <a:pPr algn="l">
              <a:lnSpc>
                <a:spcPts val="4493"/>
              </a:lnSpc>
            </a:pPr>
          </a:p>
          <a:p>
            <a:pPr algn="l">
              <a:lnSpc>
                <a:spcPts val="4493"/>
              </a:lnSpc>
            </a:pPr>
            <a:r>
              <a:rPr lang="en-US" sz="3209" spc="160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To evaluate the relationship between sanitation access and public health outcomes</a:t>
            </a:r>
          </a:p>
          <a:p>
            <a:pPr algn="l">
              <a:lnSpc>
                <a:spcPts val="4493"/>
              </a:lnSpc>
            </a:pPr>
          </a:p>
          <a:p>
            <a:pPr algn="l">
              <a:lnSpc>
                <a:spcPts val="4493"/>
              </a:lnSpc>
            </a:pPr>
            <a:r>
              <a:rPr lang="en-US" sz="3209" spc="160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To identify patterns using correlation analysis</a:t>
            </a:r>
          </a:p>
          <a:p>
            <a:pPr algn="l">
              <a:lnSpc>
                <a:spcPts val="4493"/>
              </a:lnSpc>
            </a:pPr>
          </a:p>
          <a:p>
            <a:pPr algn="l">
              <a:lnSpc>
                <a:spcPts val="4493"/>
              </a:lnSpc>
              <a:spcBef>
                <a:spcPct val="0"/>
              </a:spcBef>
            </a:pPr>
            <a:r>
              <a:rPr lang="en-US" b="true" sz="3209" spc="160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To provide insights for improving sanitation policies</a:t>
            </a:r>
          </a:p>
        </p:txBody>
      </p:sp>
      <p:sp>
        <p:nvSpPr>
          <p:cNvPr name="AutoShape 4" id="4"/>
          <p:cNvSpPr/>
          <p:nvPr/>
        </p:nvSpPr>
        <p:spPr>
          <a:xfrm>
            <a:off x="17935579" y="331228"/>
            <a:ext cx="0" cy="956458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300930" y="9895809"/>
            <a:ext cx="1763464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300930" y="312178"/>
            <a:ext cx="17634649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300930" y="312178"/>
            <a:ext cx="19050" cy="958363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951976" y="7212829"/>
            <a:ext cx="6026397" cy="482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472"/>
              </a:lnSpc>
            </a:pPr>
            <a:r>
              <a:rPr lang="en-US" b="true" sz="34507" spc="-2760">
                <a:solidFill>
                  <a:srgbClr val="F2F7FA"/>
                </a:solidFill>
                <a:latin typeface="Telegraf Bold"/>
                <a:ea typeface="Telegraf Bold"/>
                <a:cs typeface="Telegraf Bold"/>
                <a:sym typeface="Telegraf Bold"/>
              </a:rPr>
              <a:t>04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48416" y="764649"/>
            <a:ext cx="11116758" cy="911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7"/>
              </a:lnSpc>
            </a:pPr>
            <a:r>
              <a:rPr lang="en-US" sz="6100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AND STUDY AREA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35353" y="1948368"/>
            <a:ext cx="8082591" cy="6522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study focuses on Tamil Nadu districts.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variables analyzed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Sanitation indicators:</a:t>
            </a: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Household toilet access</a:t>
            </a: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Waste disposal facilities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indicators: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Disease incidence rates</a:t>
            </a: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spc="154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Public health statistics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96226" y="2359855"/>
            <a:ext cx="5784056" cy="3938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 s</a:t>
            </a:r>
            <a:r>
              <a:rPr lang="en-US" b="true" sz="31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ources include: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Government public health records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Sanitation access statistics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Population health indicators</a:t>
            </a:r>
          </a:p>
        </p:txBody>
      </p:sp>
      <p:sp>
        <p:nvSpPr>
          <p:cNvPr name="AutoShape 6" id="6"/>
          <p:cNvSpPr/>
          <p:nvPr/>
        </p:nvSpPr>
        <p:spPr>
          <a:xfrm>
            <a:off x="10484960" y="1855174"/>
            <a:ext cx="0" cy="755709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92577" y="446509"/>
            <a:ext cx="1700646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673527" y="446509"/>
            <a:ext cx="19050" cy="89657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699042" y="446509"/>
            <a:ext cx="0" cy="89657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692577" y="9412265"/>
            <a:ext cx="1700646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73527" y="1855174"/>
            <a:ext cx="1702551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78462" y="647933"/>
            <a:ext cx="10510442" cy="1089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7299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METHODOLOGY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78462" y="2276581"/>
            <a:ext cx="10510442" cy="6017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 study follows a data-driven analytical approach.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Steps involved: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1. Data collection from official datasets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2. Data cleaning and preprocessing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3. Statistical correlation analysis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spc="154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4. Visualization and interpretation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10526" y="2343256"/>
            <a:ext cx="6195703" cy="351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44"/>
              </a:lnSpc>
            </a:pPr>
            <a:r>
              <a:rPr lang="en-US" b="true" sz="2888" spc="144">
                <a:solidFill>
                  <a:srgbClr val="343434"/>
                </a:solidFill>
                <a:latin typeface="Lato Bold"/>
                <a:ea typeface="Lato Bold"/>
                <a:cs typeface="Lato Bold"/>
                <a:sym typeface="Lato Bold"/>
              </a:rPr>
              <a:t>Tools used: </a:t>
            </a:r>
          </a:p>
          <a:p>
            <a:pPr algn="just">
              <a:lnSpc>
                <a:spcPts val="4044"/>
              </a:lnSpc>
            </a:pPr>
          </a:p>
          <a:p>
            <a:pPr algn="just">
              <a:lnSpc>
                <a:spcPts val="4044"/>
              </a:lnSpc>
            </a:pPr>
            <a:r>
              <a:rPr lang="en-US" b="true" sz="2888" spc="144">
                <a:solidFill>
                  <a:srgbClr val="343434"/>
                </a:solidFill>
                <a:latin typeface="Lato Bold"/>
                <a:ea typeface="Lato Bold"/>
                <a:cs typeface="Lato Bold"/>
                <a:sym typeface="Lato Bold"/>
              </a:rPr>
              <a:t>• Python</a:t>
            </a:r>
          </a:p>
          <a:p>
            <a:pPr algn="just">
              <a:lnSpc>
                <a:spcPts val="4044"/>
              </a:lnSpc>
            </a:pPr>
          </a:p>
          <a:p>
            <a:pPr algn="just">
              <a:lnSpc>
                <a:spcPts val="4044"/>
              </a:lnSpc>
            </a:pPr>
            <a:r>
              <a:rPr lang="en-US" b="true" sz="2888" spc="144">
                <a:solidFill>
                  <a:srgbClr val="343434"/>
                </a:solidFill>
                <a:latin typeface="Lato Bold"/>
                <a:ea typeface="Lato Bold"/>
                <a:cs typeface="Lato Bold"/>
                <a:sym typeface="Lato Bold"/>
              </a:rPr>
              <a:t>• Statistical analysis techniques</a:t>
            </a:r>
          </a:p>
          <a:p>
            <a:pPr algn="just">
              <a:lnSpc>
                <a:spcPts val="4044"/>
              </a:lnSpc>
            </a:pPr>
          </a:p>
          <a:p>
            <a:pPr algn="just">
              <a:lnSpc>
                <a:spcPts val="4044"/>
              </a:lnSpc>
              <a:spcBef>
                <a:spcPct val="0"/>
              </a:spcBef>
            </a:pPr>
            <a:r>
              <a:rPr lang="en-US" b="true" sz="2888" spc="144">
                <a:solidFill>
                  <a:srgbClr val="343434"/>
                </a:solidFill>
                <a:latin typeface="Lato Bold"/>
                <a:ea typeface="Lato Bold"/>
                <a:cs typeface="Lato Bold"/>
                <a:sym typeface="Lato Bold"/>
              </a:rPr>
              <a:t>• Data visualization methods</a:t>
            </a:r>
          </a:p>
        </p:txBody>
      </p:sp>
      <p:sp>
        <p:nvSpPr>
          <p:cNvPr name="AutoShape 5" id="5"/>
          <p:cNvSpPr/>
          <p:nvPr/>
        </p:nvSpPr>
        <p:spPr>
          <a:xfrm>
            <a:off x="11288904" y="2067031"/>
            <a:ext cx="19050" cy="78913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60196" y="373816"/>
            <a:ext cx="175676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17908801" y="373816"/>
            <a:ext cx="19050" cy="958453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360196" y="9939302"/>
            <a:ext cx="1754860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H="true">
            <a:off x="360196" y="373816"/>
            <a:ext cx="19050" cy="956548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360196" y="2067031"/>
            <a:ext cx="175676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95039" y="554228"/>
            <a:ext cx="10793390" cy="9584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8"/>
              </a:lnSpc>
            </a:pPr>
            <a:r>
              <a:rPr lang="en-US" sz="6400" b="true">
                <a:solidFill>
                  <a:srgbClr val="343434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CORRELATION ANALYSIS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653325"/>
            <a:ext cx="8964292" cy="746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relationship between sanitation and public health outcomes is measured using the</a:t>
            </a: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Pearson Correlation Coefficient.</a:t>
            </a:r>
          </a:p>
          <a:p>
            <a:pPr algn="l">
              <a:lnSpc>
                <a:spcPts val="3692"/>
              </a:lnSpc>
            </a:pP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Formula:</a:t>
            </a:r>
          </a:p>
          <a:p>
            <a:pPr algn="l">
              <a:lnSpc>
                <a:spcPts val="3692"/>
              </a:lnSpc>
            </a:pP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 = Σ (xi − ̄x)(yi − ȳ)</a:t>
            </a: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───────────────</a:t>
            </a: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 √[ Σ (xi − ̄x)2 Σ (yi − ȳ)2 ]</a:t>
            </a:r>
          </a:p>
          <a:p>
            <a:pPr algn="l">
              <a:lnSpc>
                <a:spcPts val="3692"/>
              </a:lnSpc>
            </a:pP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Where:</a:t>
            </a:r>
          </a:p>
          <a:p>
            <a:pPr algn="l">
              <a:lnSpc>
                <a:spcPts val="3692"/>
              </a:lnSpc>
            </a:pP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xi = sanitation indicator values</a:t>
            </a: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yi = health outcome values</a:t>
            </a:r>
          </a:p>
          <a:p>
            <a:pPr algn="l">
              <a:lnSpc>
                <a:spcPts val="3692"/>
              </a:lnSpc>
            </a:pPr>
            <a:r>
              <a:rPr lang="en-US" sz="2637" spc="131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̄x = mean of sanitation values</a:t>
            </a:r>
          </a:p>
          <a:p>
            <a:pPr algn="l">
              <a:lnSpc>
                <a:spcPts val="3692"/>
              </a:lnSpc>
              <a:spcBef>
                <a:spcPct val="0"/>
              </a:spcBef>
            </a:pPr>
            <a:r>
              <a:rPr lang="en-US" b="true" sz="2637" spc="131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ȳ = mean of health values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02642" y="1643800"/>
            <a:ext cx="5248322" cy="4377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79"/>
              </a:lnSpc>
            </a:pPr>
            <a:r>
              <a:rPr lang="en-US" b="true" sz="2771" spc="138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Interpretation:</a:t>
            </a:r>
          </a:p>
          <a:p>
            <a:pPr algn="just">
              <a:lnSpc>
                <a:spcPts val="3879"/>
              </a:lnSpc>
            </a:pPr>
          </a:p>
          <a:p>
            <a:pPr algn="just">
              <a:lnSpc>
                <a:spcPts val="3879"/>
              </a:lnSpc>
            </a:pPr>
            <a:r>
              <a:rPr lang="en-US" b="true" sz="2771" spc="138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r = +1 → strong positive relationship</a:t>
            </a:r>
          </a:p>
          <a:p>
            <a:pPr algn="just">
              <a:lnSpc>
                <a:spcPts val="3879"/>
              </a:lnSpc>
            </a:pPr>
          </a:p>
          <a:p>
            <a:pPr algn="just">
              <a:lnSpc>
                <a:spcPts val="3879"/>
              </a:lnSpc>
            </a:pPr>
            <a:r>
              <a:rPr lang="en-US" b="true" sz="2771" spc="138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r = 0 → no relationship</a:t>
            </a:r>
          </a:p>
          <a:p>
            <a:pPr algn="just">
              <a:lnSpc>
                <a:spcPts val="3879"/>
              </a:lnSpc>
            </a:pPr>
          </a:p>
          <a:p>
            <a:pPr algn="just">
              <a:lnSpc>
                <a:spcPts val="3879"/>
              </a:lnSpc>
              <a:spcBef>
                <a:spcPct val="0"/>
              </a:spcBef>
            </a:pPr>
            <a:r>
              <a:rPr lang="en-US" b="true" sz="2771" spc="138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r = −1 → strong negative relationship</a:t>
            </a:r>
          </a:p>
        </p:txBody>
      </p:sp>
      <p:sp>
        <p:nvSpPr>
          <p:cNvPr name="AutoShape 5" id="5"/>
          <p:cNvSpPr/>
          <p:nvPr/>
        </p:nvSpPr>
        <p:spPr>
          <a:xfrm flipH="true">
            <a:off x="10497817" y="1513258"/>
            <a:ext cx="0" cy="7745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651428" y="843467"/>
            <a:ext cx="256262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651428" y="843467"/>
            <a:ext cx="0" cy="841483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651428" y="9258300"/>
            <a:ext cx="166078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7259300" y="1028700"/>
            <a:ext cx="0" cy="822960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14188428" y="1028700"/>
            <a:ext cx="307087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24331" y="4733182"/>
            <a:ext cx="7225845" cy="4817230"/>
          </a:xfrm>
          <a:custGeom>
            <a:avLst/>
            <a:gdLst/>
            <a:ahLst/>
            <a:cxnLst/>
            <a:rect r="r" b="b" t="t" l="l"/>
            <a:pathLst>
              <a:path h="4817230" w="7225845">
                <a:moveTo>
                  <a:pt x="0" y="0"/>
                </a:moveTo>
                <a:lnTo>
                  <a:pt x="7225844" y="0"/>
                </a:lnTo>
                <a:lnTo>
                  <a:pt x="7225844" y="4817230"/>
                </a:lnTo>
                <a:lnTo>
                  <a:pt x="0" y="48172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5753" y="863342"/>
            <a:ext cx="12765895" cy="913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6500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VISUALIZATION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9193" y="1794010"/>
            <a:ext cx="14576121" cy="2855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To better understand the relationships, the study uses visual techniques such as :</a:t>
            </a:r>
          </a:p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Correlation heatmaps</a:t>
            </a:r>
          </a:p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Scatter plots</a:t>
            </a:r>
          </a:p>
          <a:p>
            <a:pPr algn="l">
              <a:lnSpc>
                <a:spcPts val="3779"/>
              </a:lnSpc>
            </a:pPr>
            <a:r>
              <a:rPr lang="en-US" sz="2699" spc="13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District-level comparison graphs</a:t>
            </a:r>
          </a:p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b="true" sz="2699" spc="134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These visualizations help identify patterns between sanitation availability and disease prevalence.</a:t>
            </a:r>
          </a:p>
        </p:txBody>
      </p:sp>
      <p:sp>
        <p:nvSpPr>
          <p:cNvPr name="AutoShape 5" id="5"/>
          <p:cNvSpPr/>
          <p:nvPr/>
        </p:nvSpPr>
        <p:spPr>
          <a:xfrm>
            <a:off x="279822" y="472817"/>
            <a:ext cx="1764855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7909327" y="472817"/>
            <a:ext cx="19050" cy="94834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279822" y="9937251"/>
            <a:ext cx="1764855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>
            <a:off x="279822" y="472817"/>
            <a:ext cx="19050" cy="94834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83016" y="2305713"/>
            <a:ext cx="13016873" cy="6522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research can expand this study by: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• Including additional states for comparison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• Using machine learning models for prediction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• Analyzing long-term sanitation trends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</a:pPr>
            <a:r>
              <a:rPr lang="en-US" sz="3099" spc="154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 • Incorporating environmental factors such as water quality</a:t>
            </a:r>
          </a:p>
          <a:p>
            <a:pPr algn="l">
              <a:lnSpc>
                <a:spcPts val="4339"/>
              </a:lnSpc>
            </a:pPr>
          </a:p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spc="154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These improvements will help develop more accurate public health models.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83016" y="902528"/>
            <a:ext cx="12765895" cy="1114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04"/>
              </a:lnSpc>
            </a:pPr>
            <a:r>
              <a:rPr lang="en-US" sz="78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FUTURE WORK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299554" y="433189"/>
            <a:ext cx="17628814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299554" y="433189"/>
            <a:ext cx="0" cy="952435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299554" y="9938494"/>
            <a:ext cx="17628814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 flipV="true">
            <a:off x="17909318" y="433189"/>
            <a:ext cx="19050" cy="95053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55656" y="2394856"/>
            <a:ext cx="14976688" cy="6566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This study examined the relationship between sanitation access and public health</a:t>
            </a: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outcomes in Tamil Nadu.</a:t>
            </a:r>
          </a:p>
          <a:p>
            <a:pPr algn="l">
              <a:lnSpc>
                <a:spcPts val="4015"/>
              </a:lnSpc>
            </a:pP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Key conclusions:</a:t>
            </a:r>
          </a:p>
          <a:p>
            <a:pPr algn="l">
              <a:lnSpc>
                <a:spcPts val="4015"/>
              </a:lnSpc>
            </a:pP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Sanitation access has a measurable impact on health outcomes.</a:t>
            </a:r>
          </a:p>
          <a:p>
            <a:pPr algn="l">
              <a:lnSpc>
                <a:spcPts val="4015"/>
              </a:lnSpc>
            </a:pP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Correlation analysis helps identify critical sanitation gaps.</a:t>
            </a:r>
          </a:p>
          <a:p>
            <a:pPr algn="l">
              <a:lnSpc>
                <a:spcPts val="4015"/>
              </a:lnSpc>
            </a:pP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• Improved sanitation infrastructure can significantly enhance public health.</a:t>
            </a:r>
          </a:p>
          <a:p>
            <a:pPr algn="l">
              <a:lnSpc>
                <a:spcPts val="4015"/>
              </a:lnSpc>
            </a:pPr>
          </a:p>
          <a:p>
            <a:pPr algn="l">
              <a:lnSpc>
                <a:spcPts val="4015"/>
              </a:lnSpc>
            </a:pPr>
            <a:r>
              <a:rPr lang="en-US" sz="2868" spc="143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Strengthening sanitation systems will contribute to sustainable and healthy</a:t>
            </a:r>
          </a:p>
          <a:p>
            <a:pPr algn="l">
              <a:lnSpc>
                <a:spcPts val="4015"/>
              </a:lnSpc>
              <a:spcBef>
                <a:spcPct val="0"/>
              </a:spcBef>
            </a:pPr>
            <a:r>
              <a:rPr lang="en-US" b="true" sz="2868" spc="143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communities.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08964" y="1114425"/>
            <a:ext cx="12765895" cy="10708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0"/>
              </a:lnSpc>
            </a:pPr>
            <a:r>
              <a:rPr lang="en-US" sz="76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CONCLUSION</a:t>
            </a:r>
          </a:p>
        </p:txBody>
      </p:sp>
      <p:sp>
        <p:nvSpPr>
          <p:cNvPr name="AutoShape 4" id="4"/>
          <p:cNvSpPr/>
          <p:nvPr/>
        </p:nvSpPr>
        <p:spPr>
          <a:xfrm flipV="true">
            <a:off x="1028700" y="720021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H="true">
            <a:off x="1028700" y="720021"/>
            <a:ext cx="0" cy="85382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1028700" y="9258300"/>
            <a:ext cx="16230600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259300" y="720021"/>
            <a:ext cx="0" cy="8538279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4155" y="610130"/>
            <a:ext cx="15959158" cy="1117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01"/>
              </a:lnSpc>
            </a:pPr>
            <a:r>
              <a:rPr lang="en-US" sz="7939" b="true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84155" y="2391152"/>
            <a:ext cx="15423307" cy="7164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[1] National Family Health Survey (NFHS-5), 2019–21: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Tamil Nadu Fact Sheet, International Institute for Population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Sciences (IIPS), Mumbai, India, 2021. Available:</a:t>
            </a: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[2] P. Prithviraj, P. Sivaprakasam, C. Mahendran, P. Norman, and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K. R. Pandyan, “Status of sanitation in the rural areas of a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unit district, Tamil Nadu, India,” Natl. J. Community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Med., vol. 8, no. 09, pp. 521–525, 2017. </a:t>
            </a: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[3] Assessment of water, sanitation and hand hygiene 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practices in rural households of Tamil Nadu: A cross?</a:t>
            </a:r>
          </a:p>
          <a:p>
            <a:pPr algn="l">
              <a:lnSpc>
                <a:spcPts val="3598"/>
              </a:lnSpc>
            </a:pPr>
            <a:r>
              <a:rPr lang="en-US" sz="2570" spc="128" b="true">
                <a:solidFill>
                  <a:srgbClr val="34343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sectional study,” J. Family Med. Prim. Care, 2024. </a:t>
            </a: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</a:pPr>
          </a:p>
          <a:p>
            <a:pPr algn="l">
              <a:lnSpc>
                <a:spcPts val="3598"/>
              </a:lnSpc>
              <a:spcBef>
                <a:spcPct val="0"/>
              </a:spcBef>
            </a:pPr>
          </a:p>
        </p:txBody>
      </p:sp>
      <p:sp>
        <p:nvSpPr>
          <p:cNvPr name="AutoShape 4" id="4"/>
          <p:cNvSpPr/>
          <p:nvPr/>
        </p:nvSpPr>
        <p:spPr>
          <a:xfrm>
            <a:off x="359905" y="292974"/>
            <a:ext cx="17548845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359905" y="292974"/>
            <a:ext cx="19050" cy="962489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>
            <a:off x="359905" y="9898816"/>
            <a:ext cx="17548845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17908750" y="292974"/>
            <a:ext cx="19050" cy="9605843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2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421043" y="2402060"/>
            <a:ext cx="9445915" cy="13110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59"/>
              </a:lnSpc>
            </a:pPr>
            <a:r>
              <a:rPr lang="en-US" b="true" sz="9339">
                <a:solidFill>
                  <a:srgbClr val="343434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35577" y="5358136"/>
            <a:ext cx="7416846" cy="416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Lato"/>
                <a:ea typeface="Lato"/>
                <a:cs typeface="Lato"/>
                <a:sym typeface="Lato"/>
              </a:rPr>
              <a:t>THANK YOU FOR YOUR ATTENTION</a:t>
            </a:r>
          </a:p>
          <a:p>
            <a:pPr algn="ctr">
              <a:lnSpc>
                <a:spcPts val="5544"/>
              </a:lnSpc>
            </a:pPr>
          </a:p>
          <a:p>
            <a:pPr algn="ctr">
              <a:lnSpc>
                <a:spcPts val="5544"/>
              </a:lnSpc>
            </a:pPr>
            <a:r>
              <a:rPr lang="en-US" sz="4200" spc="100">
                <a:solidFill>
                  <a:srgbClr val="F2F7FA"/>
                </a:solidFill>
                <a:latin typeface="Lato"/>
                <a:ea typeface="Lato"/>
                <a:cs typeface="Lato"/>
                <a:sym typeface="Lato"/>
              </a:rPr>
              <a:t>QUESTIONS AND DISCUSSIONS ARE WELCOME!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541236" y="4688380"/>
            <a:ext cx="9205528" cy="2954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8"/>
              </a:lnSpc>
            </a:pPr>
            <a:r>
              <a:rPr lang="en-US" b="true" sz="3713" spc="8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THANK YOU FOR YOUR ATTENTION</a:t>
            </a:r>
          </a:p>
          <a:p>
            <a:pPr algn="ctr">
              <a:lnSpc>
                <a:spcPts val="5198"/>
              </a:lnSpc>
            </a:pPr>
          </a:p>
          <a:p>
            <a:pPr algn="ctr">
              <a:lnSpc>
                <a:spcPts val="5198"/>
              </a:lnSpc>
            </a:pPr>
            <a:r>
              <a:rPr lang="en-US" b="true" sz="3713" spc="8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Questions and discussions are welcome!</a:t>
            </a:r>
          </a:p>
          <a:p>
            <a:pPr algn="ctr">
              <a:lnSpc>
                <a:spcPts val="2261"/>
              </a:lnSpc>
              <a:spcBef>
                <a:spcPct val="0"/>
              </a:spcBef>
            </a:pPr>
          </a:p>
        </p:txBody>
      </p:sp>
      <p:sp>
        <p:nvSpPr>
          <p:cNvPr name="AutoShape 5" id="5"/>
          <p:cNvSpPr/>
          <p:nvPr/>
        </p:nvSpPr>
        <p:spPr>
          <a:xfrm>
            <a:off x="259143" y="333395"/>
            <a:ext cx="17810526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H="true">
            <a:off x="259143" y="333395"/>
            <a:ext cx="19050" cy="96249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278193" y="9939301"/>
            <a:ext cx="17791476" cy="1905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18010332" y="333395"/>
            <a:ext cx="59336" cy="960590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4541236" y="4564186"/>
            <a:ext cx="92055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V="true">
            <a:off x="4541236" y="7488307"/>
            <a:ext cx="920552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13746764" y="4564186"/>
            <a:ext cx="0" cy="292412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4522186" y="4564186"/>
            <a:ext cx="19050" cy="29050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DAHDhx8DQfU</dc:identifier>
  <dcterms:modified xsi:type="dcterms:W3CDTF">2011-08-01T06:04:30Z</dcterms:modified>
  <cp:revision>1</cp:revision>
  <dc:title>Project</dc:title>
</cp:coreProperties>
</file>